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78" r:id="rId2"/>
    <p:sldId id="279" r:id="rId3"/>
    <p:sldId id="281" r:id="rId4"/>
  </p:sldIdLst>
  <p:sldSz cx="36576000" cy="20574000"/>
  <p:notesSz cx="6858000" cy="9144000"/>
  <p:defaultTextStyle>
    <a:defPPr marL="0" marR="0" indent="0" algn="l" defTabSz="1369222" rtl="0" fontAlgn="auto" latinLnBrk="1" hangingPunct="0">
      <a:lnSpc>
        <a:spcPct val="100000"/>
      </a:lnSpc>
      <a:spcBef>
        <a:spcPts val="0"/>
      </a:spcBef>
      <a:spcAft>
        <a:spcPts val="0"/>
      </a:spcAft>
      <a:buClrTx/>
      <a:buSzTx/>
      <a:buFontTx/>
      <a:buNone/>
      <a:tabLst/>
      <a:defRPr kumimoji="0" sz="2696" b="0" i="0" u="none" strike="noStrike" cap="none" spc="0" normalizeH="0" baseline="0">
        <a:ln>
          <a:noFill/>
        </a:ln>
        <a:solidFill>
          <a:srgbClr val="000000"/>
        </a:solidFill>
        <a:effectLst/>
        <a:uFillTx/>
      </a:defRPr>
    </a:defPPr>
    <a:lvl1pPr marL="0" marR="0" indent="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1pPr>
    <a:lvl2pPr marL="0" marR="0" indent="34230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2pPr>
    <a:lvl3pPr marL="0" marR="0" indent="68461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3pPr>
    <a:lvl4pPr marL="0" marR="0" indent="102691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4pPr>
    <a:lvl5pPr marL="0" marR="0" indent="136922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5pPr>
    <a:lvl6pPr marL="0" marR="0" indent="1711528"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6pPr>
    <a:lvl7pPr marL="0" marR="0" indent="2053834"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7pPr>
    <a:lvl8pPr marL="0" marR="0" indent="239614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8pPr>
    <a:lvl9pPr marL="0" marR="0" indent="273844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E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660"/>
  </p:normalViewPr>
  <p:slideViewPr>
    <p:cSldViewPr snapToGrid="0">
      <p:cViewPr varScale="1">
        <p:scale>
          <a:sx n="52" d="100"/>
          <a:sy n="52" d="100"/>
        </p:scale>
        <p:origin x="115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8303747"/>
      </p:ext>
    </p:extLst>
  </p:cSld>
  <p:clrMap bg1="lt1" tx1="dk1" bg2="lt2" tx2="dk2" accent1="accent1" accent2="accent2" accent3="accent3" accent4="accent4" accent5="accent5" accent6="accent6" hlink="hlink" folHlink="folHlink"/>
  <p:notesStyle>
    <a:lvl1pPr defTabSz="684612" latinLnBrk="0">
      <a:lnSpc>
        <a:spcPct val="117999"/>
      </a:lnSpc>
      <a:defRPr sz="3294">
        <a:latin typeface="Helvetica Neue"/>
        <a:ea typeface="Helvetica Neue"/>
        <a:cs typeface="Helvetica Neue"/>
        <a:sym typeface="Helvetica Neue"/>
      </a:defRPr>
    </a:lvl1pPr>
    <a:lvl2pPr indent="342306" defTabSz="684612" latinLnBrk="0">
      <a:lnSpc>
        <a:spcPct val="117999"/>
      </a:lnSpc>
      <a:defRPr sz="3294">
        <a:latin typeface="Helvetica Neue"/>
        <a:ea typeface="Helvetica Neue"/>
        <a:cs typeface="Helvetica Neue"/>
        <a:sym typeface="Helvetica Neue"/>
      </a:defRPr>
    </a:lvl2pPr>
    <a:lvl3pPr indent="684612" defTabSz="684612" latinLnBrk="0">
      <a:lnSpc>
        <a:spcPct val="117999"/>
      </a:lnSpc>
      <a:defRPr sz="3294">
        <a:latin typeface="Helvetica Neue"/>
        <a:ea typeface="Helvetica Neue"/>
        <a:cs typeface="Helvetica Neue"/>
        <a:sym typeface="Helvetica Neue"/>
      </a:defRPr>
    </a:lvl3pPr>
    <a:lvl4pPr indent="1026916" defTabSz="684612" latinLnBrk="0">
      <a:lnSpc>
        <a:spcPct val="117999"/>
      </a:lnSpc>
      <a:defRPr sz="3294">
        <a:latin typeface="Helvetica Neue"/>
        <a:ea typeface="Helvetica Neue"/>
        <a:cs typeface="Helvetica Neue"/>
        <a:sym typeface="Helvetica Neue"/>
      </a:defRPr>
    </a:lvl4pPr>
    <a:lvl5pPr indent="1369222" defTabSz="684612" latinLnBrk="0">
      <a:lnSpc>
        <a:spcPct val="117999"/>
      </a:lnSpc>
      <a:defRPr sz="3294">
        <a:latin typeface="Helvetica Neue"/>
        <a:ea typeface="Helvetica Neue"/>
        <a:cs typeface="Helvetica Neue"/>
        <a:sym typeface="Helvetica Neue"/>
      </a:defRPr>
    </a:lvl5pPr>
    <a:lvl6pPr indent="1711528" defTabSz="684612" latinLnBrk="0">
      <a:lnSpc>
        <a:spcPct val="117999"/>
      </a:lnSpc>
      <a:defRPr sz="3294">
        <a:latin typeface="Helvetica Neue"/>
        <a:ea typeface="Helvetica Neue"/>
        <a:cs typeface="Helvetica Neue"/>
        <a:sym typeface="Helvetica Neue"/>
      </a:defRPr>
    </a:lvl6pPr>
    <a:lvl7pPr indent="2053834" defTabSz="684612" latinLnBrk="0">
      <a:lnSpc>
        <a:spcPct val="117999"/>
      </a:lnSpc>
      <a:defRPr sz="3294">
        <a:latin typeface="Helvetica Neue"/>
        <a:ea typeface="Helvetica Neue"/>
        <a:cs typeface="Helvetica Neue"/>
        <a:sym typeface="Helvetica Neue"/>
      </a:defRPr>
    </a:lvl7pPr>
    <a:lvl8pPr indent="2396140" defTabSz="684612" latinLnBrk="0">
      <a:lnSpc>
        <a:spcPct val="117999"/>
      </a:lnSpc>
      <a:defRPr sz="3294">
        <a:latin typeface="Helvetica Neue"/>
        <a:ea typeface="Helvetica Neue"/>
        <a:cs typeface="Helvetica Neue"/>
        <a:sym typeface="Helvetica Neue"/>
      </a:defRPr>
    </a:lvl8pPr>
    <a:lvl9pPr indent="2738446" defTabSz="684612" latinLnBrk="0">
      <a:lnSpc>
        <a:spcPct val="117999"/>
      </a:lnSpc>
      <a:defRPr sz="3294">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2748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53038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4688955" y="1009652"/>
            <a:ext cx="27203402" cy="131064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952500" y="14173202"/>
            <a:ext cx="34671000" cy="3009900"/>
          </a:xfrm>
          <a:prstGeom prst="rect">
            <a:avLst/>
          </a:prstGeom>
        </p:spPr>
        <p:txBody>
          <a:bodyPr anchor="b"/>
          <a:lstStyle/>
          <a:p>
            <a:r>
              <a:t>Title Text</a:t>
            </a:r>
          </a:p>
        </p:txBody>
      </p:sp>
      <p:sp>
        <p:nvSpPr>
          <p:cNvPr id="22" name="Shape 22"/>
          <p:cNvSpPr>
            <a:spLocks noGrp="1"/>
          </p:cNvSpPr>
          <p:nvPr>
            <p:ph type="body" sz="quarter" idx="1"/>
          </p:nvPr>
        </p:nvSpPr>
        <p:spPr>
          <a:xfrm>
            <a:off x="952500" y="17278351"/>
            <a:ext cx="34671000" cy="238125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2667000" y="6800852"/>
            <a:ext cx="31242000" cy="69723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9748973" y="1657352"/>
            <a:ext cx="14287502" cy="17259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2476503" y="1657350"/>
            <a:ext cx="15335250" cy="8420100"/>
          </a:xfrm>
          <a:prstGeom prst="rect">
            <a:avLst/>
          </a:prstGeom>
        </p:spPr>
        <p:txBody>
          <a:bodyPr anchor="b"/>
          <a:lstStyle>
            <a:lvl1pPr>
              <a:defRPr sz="12598"/>
            </a:lvl1pPr>
          </a:lstStyle>
          <a:p>
            <a:r>
              <a:t>Title Text</a:t>
            </a:r>
          </a:p>
        </p:txBody>
      </p:sp>
      <p:sp>
        <p:nvSpPr>
          <p:cNvPr id="40" name="Shape 40"/>
          <p:cNvSpPr>
            <a:spLocks noGrp="1"/>
          </p:cNvSpPr>
          <p:nvPr>
            <p:ph type="body" sz="quarter" idx="1"/>
          </p:nvPr>
        </p:nvSpPr>
        <p:spPr>
          <a:xfrm>
            <a:off x="2476503" y="10267950"/>
            <a:ext cx="15335250" cy="864870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9754850" y="4857753"/>
            <a:ext cx="14287500" cy="1381125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2533650" y="4857753"/>
            <a:ext cx="15011400" cy="13811250"/>
          </a:xfrm>
          <a:prstGeom prst="rect">
            <a:avLst/>
          </a:prstGeom>
        </p:spPr>
        <p:txBody>
          <a:bodyPr/>
          <a:lstStyle>
            <a:lvl1pPr marL="838154" indent="-838154">
              <a:spcBef>
                <a:spcPts val="6750"/>
              </a:spcBef>
              <a:defRPr sz="6750"/>
            </a:lvl1pPr>
            <a:lvl2pPr marL="1676310" indent="-838154">
              <a:spcBef>
                <a:spcPts val="6750"/>
              </a:spcBef>
              <a:defRPr sz="6750"/>
            </a:lvl2pPr>
            <a:lvl3pPr marL="2514464" indent="-838154">
              <a:spcBef>
                <a:spcPts val="6750"/>
              </a:spcBef>
              <a:defRPr sz="6750"/>
            </a:lvl3pPr>
            <a:lvl4pPr marL="3352620" indent="-838154">
              <a:spcBef>
                <a:spcPts val="6750"/>
              </a:spcBef>
              <a:defRPr sz="6750"/>
            </a:lvl4pPr>
            <a:lvl5pPr marL="4190774" indent="-838154">
              <a:spcBef>
                <a:spcPts val="6750"/>
              </a:spcBef>
              <a:defRPr sz="675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2533650" y="2667001"/>
            <a:ext cx="31508700" cy="15220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23641053" y="10572751"/>
            <a:ext cx="11106150" cy="832485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23641053" y="1695451"/>
            <a:ext cx="11106150" cy="832485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809750" y="1695451"/>
            <a:ext cx="21259800" cy="1720215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3581403" y="13430251"/>
            <a:ext cx="29432250" cy="979755"/>
          </a:xfrm>
          <a:prstGeom prst="rect">
            <a:avLst/>
          </a:prstGeom>
        </p:spPr>
        <p:txBody>
          <a:bodyPr anchor="t">
            <a:spAutoFit/>
          </a:bodyPr>
          <a:lstStyle>
            <a:lvl1pPr marL="0" indent="0" algn="ctr">
              <a:spcBef>
                <a:spcPts val="0"/>
              </a:spcBef>
              <a:buSzTx/>
              <a:buNone/>
              <a:defRPr sz="5700">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3581403" y="9083251"/>
            <a:ext cx="29432250" cy="1302601"/>
          </a:xfrm>
          <a:prstGeom prst="rect">
            <a:avLst/>
          </a:prstGeom>
        </p:spPr>
        <p:txBody>
          <a:bodyPr>
            <a:spAutoFit/>
          </a:bodyPr>
          <a:lstStyle>
            <a:lvl1pPr marL="0" indent="0" algn="ctr">
              <a:spcBef>
                <a:spcPts val="0"/>
              </a:spcBef>
              <a:buSzTx/>
              <a:buNone/>
            </a:lvl1pPr>
          </a:lstStyle>
          <a:p>
            <a:r>
              <a:t>“Type a quote here.” </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2"/>
            <a:ext cx="36576000" cy="20574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2533650" y="1428750"/>
            <a:ext cx="31508700" cy="3429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2533650" y="4857753"/>
            <a:ext cx="31508700" cy="1381125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7880931" y="19621502"/>
            <a:ext cx="795089" cy="656590"/>
          </a:xfrm>
          <a:prstGeom prst="rect">
            <a:avLst/>
          </a:prstGeom>
          <a:ln w="12700">
            <a:miter lim="400000"/>
          </a:ln>
        </p:spPr>
        <p:txBody>
          <a:bodyPr wrap="none" lIns="50800" tIns="50800" rIns="50800" bIns="50800">
            <a:spAutoFit/>
          </a:bodyPr>
          <a:lstStyle>
            <a:lvl1pPr>
              <a:defRPr sz="36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9pPr>
    </p:titleStyle>
    <p:bodyStyle>
      <a:lvl1pPr marL="95244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1pPr>
      <a:lvl2pPr marL="190489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2pPr>
      <a:lvl3pPr marL="285734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3pPr>
      <a:lvl4pPr marL="380979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4pPr>
      <a:lvl5pPr marL="4762244"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5pPr>
      <a:lvl6pPr marL="571469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6pPr>
      <a:lvl7pPr marL="666714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7pPr>
      <a:lvl8pPr marL="761959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8pPr>
      <a:lvl9pPr marL="857204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this course, we're going to use an IDE called </a:t>
            </a:r>
            <a:r>
              <a:rPr lang="en-US" sz="6400" b="1" dirty="0">
                <a:latin typeface="Open Sans" panose="020B0606030504020204" pitchFamily="34" charset="0"/>
                <a:ea typeface="Open Sans" panose="020B0606030504020204" pitchFamily="34" charset="0"/>
                <a:cs typeface="Open Sans" panose="020B0606030504020204" pitchFamily="34" charset="0"/>
              </a:rPr>
              <a:t>IntelliJ IDEA</a:t>
            </a:r>
            <a:r>
              <a:rPr lang="en-US" sz="6400" dirty="0">
                <a:latin typeface="Open Sans" panose="020B0606030504020204" pitchFamily="34" charset="0"/>
                <a:ea typeface="Open Sans" panose="020B0606030504020204" pitchFamily="34" charset="0"/>
                <a:cs typeface="Open Sans" panose="020B0606030504020204" pitchFamily="34" charset="0"/>
              </a:rPr>
              <a:t>. An </a:t>
            </a:r>
            <a:r>
              <a:rPr lang="en-US" sz="6400" b="1" dirty="0">
                <a:latin typeface="Open Sans" panose="020B0606030504020204" pitchFamily="34" charset="0"/>
                <a:ea typeface="Open Sans" panose="020B0606030504020204" pitchFamily="34" charset="0"/>
                <a:cs typeface="Open Sans" panose="020B0606030504020204" pitchFamily="34" charset="0"/>
              </a:rPr>
              <a:t>IDE</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Integrated Development Environment</a:t>
            </a:r>
            <a:r>
              <a:rPr lang="en-US" sz="6400" dirty="0">
                <a:latin typeface="Open Sans" panose="020B0606030504020204" pitchFamily="34" charset="0"/>
                <a:ea typeface="Open Sans" panose="020B0606030504020204" pitchFamily="34" charset="0"/>
                <a:cs typeface="Open Sans" panose="020B0606030504020204" pitchFamily="34" charset="0"/>
              </a:rPr>
              <a:t>, is the tool that we use to write programs.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main feature is a text editor, that we type our code into. But an IDE also compiles and runs our programs for us. And as you'll see, it also warns us about errors in our code, before we run it.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IDE we're going to use is called IntelliJ IDEA, created by a company called </a:t>
            </a:r>
            <a:r>
              <a:rPr lang="en-US" sz="6400" b="1" dirty="0">
                <a:latin typeface="Open Sans" panose="020B0606030504020204" pitchFamily="34" charset="0"/>
                <a:ea typeface="Open Sans" panose="020B0606030504020204" pitchFamily="34" charset="0"/>
                <a:cs typeface="Open Sans" panose="020B0606030504020204" pitchFamily="34" charset="0"/>
              </a:rPr>
              <a:t>JetBrains</a:t>
            </a:r>
            <a:r>
              <a:rPr lang="en-US" sz="6400" dirty="0">
                <a:latin typeface="Open Sans" panose="020B0606030504020204" pitchFamily="34" charset="0"/>
                <a:ea typeface="Open Sans" panose="020B0606030504020204" pitchFamily="34" charset="0"/>
                <a:cs typeface="Open Sans" panose="020B0606030504020204" pitchFamily="34" charset="0"/>
              </a:rPr>
              <a:t>. There are other IDEs available, and you can use any that you want for this course.</a:t>
            </a:r>
          </a:p>
        </p:txBody>
      </p:sp>
      <p:sp>
        <p:nvSpPr>
          <p:cNvPr id="4" name="Shape 126">
            <a:extLst>
              <a:ext uri="{FF2B5EF4-FFF2-40B4-BE49-F238E27FC236}">
                <a16:creationId xmlns:a16="http://schemas.microsoft.com/office/drawing/2014/main" id="{EC8E9BDF-EB8F-B356-8911-F3103BFFA8F9}"/>
              </a:ext>
            </a:extLst>
          </p:cNvPr>
          <p:cNvSpPr/>
          <p:nvPr/>
        </p:nvSpPr>
        <p:spPr>
          <a:xfrm>
            <a:off x="952498" y="459786"/>
            <a:ext cx="1972495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Installing </a:t>
            </a:r>
            <a:r>
              <a:rPr lang="en-US" sz="10800" dirty="0" err="1">
                <a:latin typeface="Open Sans" panose="020B0606030504020204" pitchFamily="34" charset="0"/>
                <a:ea typeface="Open Sans" panose="020B0606030504020204" pitchFamily="34" charset="0"/>
                <a:cs typeface="Open Sans" panose="020B0606030504020204" pitchFamily="34" charset="0"/>
              </a:rPr>
              <a:t>Intellij</a:t>
            </a:r>
            <a:r>
              <a:rPr lang="en-US" sz="10800" dirty="0">
                <a:latin typeface="Open Sans" panose="020B0606030504020204" pitchFamily="34" charset="0"/>
                <a:ea typeface="Open Sans" panose="020B0606030504020204" pitchFamily="34" charset="0"/>
                <a:cs typeface="Open Sans" panose="020B0606030504020204" pitchFamily="34" charset="0"/>
              </a:rPr>
              <a:t> IDEA for Linux</a:t>
            </a:r>
          </a:p>
        </p:txBody>
      </p:sp>
      <p:sp>
        <p:nvSpPr>
          <p:cNvPr id="5" name="Shape 131">
            <a:extLst>
              <a:ext uri="{FF2B5EF4-FFF2-40B4-BE49-F238E27FC236}">
                <a16:creationId xmlns:a16="http://schemas.microsoft.com/office/drawing/2014/main" id="{25E02B2B-183D-9A00-ED24-D9D049663517}"/>
              </a:ext>
            </a:extLst>
          </p:cNvPr>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Installing </a:t>
            </a:r>
            <a:r>
              <a:rPr lang="en-US" sz="4500" dirty="0" err="1">
                <a:latin typeface="Open Sans" panose="020B0606030504020204" pitchFamily="34" charset="0"/>
                <a:ea typeface="Open Sans" panose="020B0606030504020204" pitchFamily="34" charset="0"/>
                <a:cs typeface="Open Sans" panose="020B0606030504020204" pitchFamily="34" charset="0"/>
              </a:rPr>
              <a:t>Intellij</a:t>
            </a:r>
            <a:r>
              <a:rPr lang="en-US" sz="4500" dirty="0">
                <a:latin typeface="Open Sans" panose="020B0606030504020204" pitchFamily="34" charset="0"/>
                <a:ea typeface="Open Sans" panose="020B0606030504020204" pitchFamily="34" charset="0"/>
                <a:cs typeface="Open Sans" panose="020B0606030504020204" pitchFamily="34" charset="0"/>
              </a:rPr>
              <a:t> IDEA for Linux</a:t>
            </a:r>
          </a:p>
        </p:txBody>
      </p:sp>
    </p:spTree>
    <p:extLst>
      <p:ext uri="{BB962C8B-B14F-4D97-AF65-F5344CB8AC3E}">
        <p14:creationId xmlns:p14="http://schemas.microsoft.com/office/powerpoint/2010/main" val="3444998013"/>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you've already got an IDE that you like, and you're comfortable using, then it's fine to continue using it. Most modern IDEs provide the same, or very similar, features.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haven't used an IDE before, I suggest you use IntelliJ IDEA. That way your environment will work the same way as you'll see in the videos.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Installing IntelliJ on Ubuntu 22.04 is fairly painless. Lets get started.</a:t>
            </a:r>
          </a:p>
        </p:txBody>
      </p:sp>
      <p:sp>
        <p:nvSpPr>
          <p:cNvPr id="4" name="Shape 126">
            <a:extLst>
              <a:ext uri="{FF2B5EF4-FFF2-40B4-BE49-F238E27FC236}">
                <a16:creationId xmlns:a16="http://schemas.microsoft.com/office/drawing/2014/main" id="{6A3EA304-513F-5120-485D-B5226A0EBF3C}"/>
              </a:ext>
            </a:extLst>
          </p:cNvPr>
          <p:cNvSpPr/>
          <p:nvPr/>
        </p:nvSpPr>
        <p:spPr>
          <a:xfrm>
            <a:off x="952498" y="459786"/>
            <a:ext cx="1972495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Installing </a:t>
            </a:r>
            <a:r>
              <a:rPr lang="en-US" sz="10800" dirty="0" err="1">
                <a:latin typeface="Open Sans" panose="020B0606030504020204" pitchFamily="34" charset="0"/>
                <a:ea typeface="Open Sans" panose="020B0606030504020204" pitchFamily="34" charset="0"/>
                <a:cs typeface="Open Sans" panose="020B0606030504020204" pitchFamily="34" charset="0"/>
              </a:rPr>
              <a:t>Intellij</a:t>
            </a:r>
            <a:r>
              <a:rPr lang="en-US" sz="10800" dirty="0">
                <a:latin typeface="Open Sans" panose="020B0606030504020204" pitchFamily="34" charset="0"/>
                <a:ea typeface="Open Sans" panose="020B0606030504020204" pitchFamily="34" charset="0"/>
                <a:cs typeface="Open Sans" panose="020B0606030504020204" pitchFamily="34" charset="0"/>
              </a:rPr>
              <a:t> IDEA for Linux</a:t>
            </a:r>
          </a:p>
        </p:txBody>
      </p:sp>
      <p:sp>
        <p:nvSpPr>
          <p:cNvPr id="5" name="Shape 131">
            <a:extLst>
              <a:ext uri="{FF2B5EF4-FFF2-40B4-BE49-F238E27FC236}">
                <a16:creationId xmlns:a16="http://schemas.microsoft.com/office/drawing/2014/main" id="{DDF36BE2-E2AB-A6C6-78B1-FF229974A95D}"/>
              </a:ext>
            </a:extLst>
          </p:cNvPr>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Installing </a:t>
            </a:r>
            <a:r>
              <a:rPr lang="en-US" sz="4500" dirty="0" err="1">
                <a:latin typeface="Open Sans" panose="020B0606030504020204" pitchFamily="34" charset="0"/>
                <a:ea typeface="Open Sans" panose="020B0606030504020204" pitchFamily="34" charset="0"/>
                <a:cs typeface="Open Sans" panose="020B0606030504020204" pitchFamily="34" charset="0"/>
              </a:rPr>
              <a:t>Intellij</a:t>
            </a:r>
            <a:r>
              <a:rPr lang="en-US" sz="4500" dirty="0">
                <a:latin typeface="Open Sans" panose="020B0606030504020204" pitchFamily="34" charset="0"/>
                <a:ea typeface="Open Sans" panose="020B0606030504020204" pitchFamily="34" charset="0"/>
                <a:cs typeface="Open Sans" panose="020B0606030504020204" pitchFamily="34" charset="0"/>
              </a:rPr>
              <a:t> IDEA for Linux</a:t>
            </a:r>
          </a:p>
        </p:txBody>
      </p:sp>
    </p:spTree>
    <p:extLst>
      <p:ext uri="{BB962C8B-B14F-4D97-AF65-F5344CB8AC3E}">
        <p14:creationId xmlns:p14="http://schemas.microsoft.com/office/powerpoint/2010/main" val="1331029326"/>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you've already got an IDE that you like, and you're comfortable using, then it's fine to continue using it. Most modern IDEs provide the same, or very similar, features.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haven't used an IDE before, I suggest you use IntelliJ IDEA. That way your environment will work the same way as you'll see in the videos.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reminder, that this video is for Linux, Check out the other videos in this section, if you're on a Mac, or running Windows.</a:t>
            </a:r>
          </a:p>
        </p:txBody>
      </p:sp>
      <p:sp>
        <p:nvSpPr>
          <p:cNvPr id="4" name="Shape 126">
            <a:extLst>
              <a:ext uri="{FF2B5EF4-FFF2-40B4-BE49-F238E27FC236}">
                <a16:creationId xmlns:a16="http://schemas.microsoft.com/office/drawing/2014/main" id="{6A3EA304-513F-5120-485D-B5226A0EBF3C}"/>
              </a:ext>
            </a:extLst>
          </p:cNvPr>
          <p:cNvSpPr/>
          <p:nvPr/>
        </p:nvSpPr>
        <p:spPr>
          <a:xfrm>
            <a:off x="952498" y="459786"/>
            <a:ext cx="1972495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Installing </a:t>
            </a:r>
            <a:r>
              <a:rPr lang="en-US" sz="10800" dirty="0" err="1">
                <a:latin typeface="Open Sans" panose="020B0606030504020204" pitchFamily="34" charset="0"/>
                <a:ea typeface="Open Sans" panose="020B0606030504020204" pitchFamily="34" charset="0"/>
                <a:cs typeface="Open Sans" panose="020B0606030504020204" pitchFamily="34" charset="0"/>
              </a:rPr>
              <a:t>Intellij</a:t>
            </a:r>
            <a:r>
              <a:rPr lang="en-US" sz="10800" dirty="0">
                <a:latin typeface="Open Sans" panose="020B0606030504020204" pitchFamily="34" charset="0"/>
                <a:ea typeface="Open Sans" panose="020B0606030504020204" pitchFamily="34" charset="0"/>
                <a:cs typeface="Open Sans" panose="020B0606030504020204" pitchFamily="34" charset="0"/>
              </a:rPr>
              <a:t> IDEA for Linux</a:t>
            </a:r>
          </a:p>
        </p:txBody>
      </p:sp>
      <p:sp>
        <p:nvSpPr>
          <p:cNvPr id="5" name="Shape 131">
            <a:extLst>
              <a:ext uri="{FF2B5EF4-FFF2-40B4-BE49-F238E27FC236}">
                <a16:creationId xmlns:a16="http://schemas.microsoft.com/office/drawing/2014/main" id="{DDF36BE2-E2AB-A6C6-78B1-FF229974A95D}"/>
              </a:ext>
            </a:extLst>
          </p:cNvPr>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Installing </a:t>
            </a:r>
            <a:r>
              <a:rPr lang="en-US" sz="4500" dirty="0" err="1">
                <a:latin typeface="Open Sans" panose="020B0606030504020204" pitchFamily="34" charset="0"/>
                <a:ea typeface="Open Sans" panose="020B0606030504020204" pitchFamily="34" charset="0"/>
                <a:cs typeface="Open Sans" panose="020B0606030504020204" pitchFamily="34" charset="0"/>
              </a:rPr>
              <a:t>Intellij</a:t>
            </a:r>
            <a:r>
              <a:rPr lang="en-US" sz="4500" dirty="0">
                <a:latin typeface="Open Sans" panose="020B0606030504020204" pitchFamily="34" charset="0"/>
                <a:ea typeface="Open Sans" panose="020B0606030504020204" pitchFamily="34" charset="0"/>
                <a:cs typeface="Open Sans" panose="020B0606030504020204" pitchFamily="34" charset="0"/>
              </a:rPr>
              <a:t> IDEA for Linux</a:t>
            </a:r>
          </a:p>
        </p:txBody>
      </p:sp>
    </p:spTree>
    <p:extLst>
      <p:ext uri="{BB962C8B-B14F-4D97-AF65-F5344CB8AC3E}">
        <p14:creationId xmlns:p14="http://schemas.microsoft.com/office/powerpoint/2010/main" val="3068403115"/>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612</TotalTime>
  <Words>330</Words>
  <Application>Microsoft Office PowerPoint</Application>
  <PresentationFormat>Custom</PresentationFormat>
  <Paragraphs>18</Paragraphs>
  <Slides>3</Slides>
  <Notes>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Helvetica</vt:lpstr>
      <vt:lpstr>Helvetica Light</vt:lpstr>
      <vt:lpstr>Helvetica Neue</vt:lpstr>
      <vt:lpstr>Open Sans</vt:lpstr>
      <vt:lpstr>White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Gigabyte</dc:creator>
  <cp:lastModifiedBy>Keane Hubert Ang</cp:lastModifiedBy>
  <cp:revision>168</cp:revision>
  <dcterms:modified xsi:type="dcterms:W3CDTF">2025-12-18T03:34:22Z</dcterms:modified>
</cp:coreProperties>
</file>