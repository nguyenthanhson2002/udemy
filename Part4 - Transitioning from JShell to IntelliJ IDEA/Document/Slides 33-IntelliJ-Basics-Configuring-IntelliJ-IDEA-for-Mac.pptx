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7" r:id="rId2"/>
    <p:sldId id="278" r:id="rId3"/>
  </p:sldIdLst>
  <p:sldSz cx="36576000" cy="20574000"/>
  <p:notesSz cx="6858000" cy="9144000"/>
  <p:defaultTextStyle>
    <a:defPPr marL="0" marR="0" indent="0" algn="l" defTabSz="1369222" rtl="0" fontAlgn="auto" latinLnBrk="1" hangingPunct="0">
      <a:lnSpc>
        <a:spcPct val="100000"/>
      </a:lnSpc>
      <a:spcBef>
        <a:spcPts val="0"/>
      </a:spcBef>
      <a:spcAft>
        <a:spcPts val="0"/>
      </a:spcAft>
      <a:buClrTx/>
      <a:buSzTx/>
      <a:buFontTx/>
      <a:buNone/>
      <a:tabLst/>
      <a:defRPr kumimoji="0" sz="2696" b="0" i="0" u="none" strike="noStrike" cap="none" spc="0" normalizeH="0" baseline="0">
        <a:ln>
          <a:noFill/>
        </a:ln>
        <a:solidFill>
          <a:srgbClr val="000000"/>
        </a:solidFill>
        <a:effectLst/>
        <a:uFillTx/>
      </a:defRPr>
    </a:defPPr>
    <a:lvl1pPr marL="0" marR="0" indent="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1pPr>
    <a:lvl2pPr marL="0" marR="0" indent="34230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2pPr>
    <a:lvl3pPr marL="0" marR="0" indent="68461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3pPr>
    <a:lvl4pPr marL="0" marR="0" indent="102691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4pPr>
    <a:lvl5pPr marL="0" marR="0" indent="136922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5pPr>
    <a:lvl6pPr marL="0" marR="0" indent="1711528"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6pPr>
    <a:lvl7pPr marL="0" marR="0" indent="2053834"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7pPr>
    <a:lvl8pPr marL="0" marR="0" indent="239614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8pPr>
    <a:lvl9pPr marL="0" marR="0" indent="273844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E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94660"/>
  </p:normalViewPr>
  <p:slideViewPr>
    <p:cSldViewPr snapToGrid="0">
      <p:cViewPr varScale="1">
        <p:scale>
          <a:sx n="52" d="100"/>
          <a:sy n="52" d="100"/>
        </p:scale>
        <p:origin x="115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8303747"/>
      </p:ext>
    </p:extLst>
  </p:cSld>
  <p:clrMap bg1="lt1" tx1="dk1" bg2="lt2" tx2="dk2" accent1="accent1" accent2="accent2" accent3="accent3" accent4="accent4" accent5="accent5" accent6="accent6" hlink="hlink" folHlink="folHlink"/>
  <p:notesStyle>
    <a:lvl1pPr defTabSz="684612" latinLnBrk="0">
      <a:lnSpc>
        <a:spcPct val="117999"/>
      </a:lnSpc>
      <a:defRPr sz="3294">
        <a:latin typeface="Helvetica Neue"/>
        <a:ea typeface="Helvetica Neue"/>
        <a:cs typeface="Helvetica Neue"/>
        <a:sym typeface="Helvetica Neue"/>
      </a:defRPr>
    </a:lvl1pPr>
    <a:lvl2pPr indent="342306" defTabSz="684612" latinLnBrk="0">
      <a:lnSpc>
        <a:spcPct val="117999"/>
      </a:lnSpc>
      <a:defRPr sz="3294">
        <a:latin typeface="Helvetica Neue"/>
        <a:ea typeface="Helvetica Neue"/>
        <a:cs typeface="Helvetica Neue"/>
        <a:sym typeface="Helvetica Neue"/>
      </a:defRPr>
    </a:lvl2pPr>
    <a:lvl3pPr indent="684612" defTabSz="684612" latinLnBrk="0">
      <a:lnSpc>
        <a:spcPct val="117999"/>
      </a:lnSpc>
      <a:defRPr sz="3294">
        <a:latin typeface="Helvetica Neue"/>
        <a:ea typeface="Helvetica Neue"/>
        <a:cs typeface="Helvetica Neue"/>
        <a:sym typeface="Helvetica Neue"/>
      </a:defRPr>
    </a:lvl3pPr>
    <a:lvl4pPr indent="1026916" defTabSz="684612" latinLnBrk="0">
      <a:lnSpc>
        <a:spcPct val="117999"/>
      </a:lnSpc>
      <a:defRPr sz="3294">
        <a:latin typeface="Helvetica Neue"/>
        <a:ea typeface="Helvetica Neue"/>
        <a:cs typeface="Helvetica Neue"/>
        <a:sym typeface="Helvetica Neue"/>
      </a:defRPr>
    </a:lvl4pPr>
    <a:lvl5pPr indent="1369222" defTabSz="684612" latinLnBrk="0">
      <a:lnSpc>
        <a:spcPct val="117999"/>
      </a:lnSpc>
      <a:defRPr sz="3294">
        <a:latin typeface="Helvetica Neue"/>
        <a:ea typeface="Helvetica Neue"/>
        <a:cs typeface="Helvetica Neue"/>
        <a:sym typeface="Helvetica Neue"/>
      </a:defRPr>
    </a:lvl5pPr>
    <a:lvl6pPr indent="1711528" defTabSz="684612" latinLnBrk="0">
      <a:lnSpc>
        <a:spcPct val="117999"/>
      </a:lnSpc>
      <a:defRPr sz="3294">
        <a:latin typeface="Helvetica Neue"/>
        <a:ea typeface="Helvetica Neue"/>
        <a:cs typeface="Helvetica Neue"/>
        <a:sym typeface="Helvetica Neue"/>
      </a:defRPr>
    </a:lvl6pPr>
    <a:lvl7pPr indent="2053834" defTabSz="684612" latinLnBrk="0">
      <a:lnSpc>
        <a:spcPct val="117999"/>
      </a:lnSpc>
      <a:defRPr sz="3294">
        <a:latin typeface="Helvetica Neue"/>
        <a:ea typeface="Helvetica Neue"/>
        <a:cs typeface="Helvetica Neue"/>
        <a:sym typeface="Helvetica Neue"/>
      </a:defRPr>
    </a:lvl7pPr>
    <a:lvl8pPr indent="2396140" defTabSz="684612" latinLnBrk="0">
      <a:lnSpc>
        <a:spcPct val="117999"/>
      </a:lnSpc>
      <a:defRPr sz="3294">
        <a:latin typeface="Helvetica Neue"/>
        <a:ea typeface="Helvetica Neue"/>
        <a:cs typeface="Helvetica Neue"/>
        <a:sym typeface="Helvetica Neue"/>
      </a:defRPr>
    </a:lvl8pPr>
    <a:lvl9pPr indent="2738446" defTabSz="684612" latinLnBrk="0">
      <a:lnSpc>
        <a:spcPct val="117999"/>
      </a:lnSpc>
      <a:defRPr sz="3294">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71615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4688955" y="1009652"/>
            <a:ext cx="27203402" cy="131064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952500" y="14173202"/>
            <a:ext cx="34671000" cy="3009900"/>
          </a:xfrm>
          <a:prstGeom prst="rect">
            <a:avLst/>
          </a:prstGeom>
        </p:spPr>
        <p:txBody>
          <a:bodyPr anchor="b"/>
          <a:lstStyle/>
          <a:p>
            <a:r>
              <a:t>Title Text</a:t>
            </a:r>
          </a:p>
        </p:txBody>
      </p:sp>
      <p:sp>
        <p:nvSpPr>
          <p:cNvPr id="22" name="Shape 22"/>
          <p:cNvSpPr>
            <a:spLocks noGrp="1"/>
          </p:cNvSpPr>
          <p:nvPr>
            <p:ph type="body" sz="quarter" idx="1"/>
          </p:nvPr>
        </p:nvSpPr>
        <p:spPr>
          <a:xfrm>
            <a:off x="952500" y="17278351"/>
            <a:ext cx="34671000" cy="238125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2667000" y="6800852"/>
            <a:ext cx="31242000" cy="69723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9748973" y="1657352"/>
            <a:ext cx="14287502" cy="172593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2476503" y="1657350"/>
            <a:ext cx="15335250" cy="8420100"/>
          </a:xfrm>
          <a:prstGeom prst="rect">
            <a:avLst/>
          </a:prstGeom>
        </p:spPr>
        <p:txBody>
          <a:bodyPr anchor="b"/>
          <a:lstStyle>
            <a:lvl1pPr>
              <a:defRPr sz="12598"/>
            </a:lvl1pPr>
          </a:lstStyle>
          <a:p>
            <a:r>
              <a:t>Title Text</a:t>
            </a:r>
          </a:p>
        </p:txBody>
      </p:sp>
      <p:sp>
        <p:nvSpPr>
          <p:cNvPr id="40" name="Shape 40"/>
          <p:cNvSpPr>
            <a:spLocks noGrp="1"/>
          </p:cNvSpPr>
          <p:nvPr>
            <p:ph type="body" sz="quarter" idx="1"/>
          </p:nvPr>
        </p:nvSpPr>
        <p:spPr>
          <a:xfrm>
            <a:off x="2476503" y="10267950"/>
            <a:ext cx="15335250" cy="864870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9754850" y="4857753"/>
            <a:ext cx="14287500" cy="1381125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half" idx="1"/>
          </p:nvPr>
        </p:nvSpPr>
        <p:spPr>
          <a:xfrm>
            <a:off x="2533650" y="4857753"/>
            <a:ext cx="15011400" cy="13811250"/>
          </a:xfrm>
          <a:prstGeom prst="rect">
            <a:avLst/>
          </a:prstGeom>
        </p:spPr>
        <p:txBody>
          <a:bodyPr/>
          <a:lstStyle>
            <a:lvl1pPr marL="838154" indent="-838154">
              <a:spcBef>
                <a:spcPts val="6750"/>
              </a:spcBef>
              <a:defRPr sz="6750"/>
            </a:lvl1pPr>
            <a:lvl2pPr marL="1676310" indent="-838154">
              <a:spcBef>
                <a:spcPts val="6750"/>
              </a:spcBef>
              <a:defRPr sz="6750"/>
            </a:lvl2pPr>
            <a:lvl3pPr marL="2514464" indent="-838154">
              <a:spcBef>
                <a:spcPts val="6750"/>
              </a:spcBef>
              <a:defRPr sz="6750"/>
            </a:lvl3pPr>
            <a:lvl4pPr marL="3352620" indent="-838154">
              <a:spcBef>
                <a:spcPts val="6750"/>
              </a:spcBef>
              <a:defRPr sz="6750"/>
            </a:lvl4pPr>
            <a:lvl5pPr marL="4190774" indent="-838154">
              <a:spcBef>
                <a:spcPts val="6750"/>
              </a:spcBef>
              <a:defRPr sz="675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2533650" y="2667001"/>
            <a:ext cx="31508700" cy="15220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23641053" y="10572751"/>
            <a:ext cx="11106150" cy="832485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23641053" y="1695451"/>
            <a:ext cx="11106150" cy="832485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809750" y="1695451"/>
            <a:ext cx="21259800" cy="1720215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3581403" y="13430251"/>
            <a:ext cx="29432250" cy="979755"/>
          </a:xfrm>
          <a:prstGeom prst="rect">
            <a:avLst/>
          </a:prstGeom>
        </p:spPr>
        <p:txBody>
          <a:bodyPr anchor="t">
            <a:spAutoFit/>
          </a:bodyPr>
          <a:lstStyle>
            <a:lvl1pPr marL="0" indent="0" algn="ctr">
              <a:spcBef>
                <a:spcPts val="0"/>
              </a:spcBef>
              <a:buSzTx/>
              <a:buNone/>
              <a:defRPr sz="5700">
                <a:latin typeface="Helvetica"/>
                <a:ea typeface="Helvetica"/>
                <a:cs typeface="Helvetica"/>
                <a:sym typeface="Helvetica"/>
              </a:defRPr>
            </a:lvl1pPr>
          </a:lstStyle>
          <a:p>
            <a:r>
              <a:t>–Johnny Appleseed</a:t>
            </a:r>
          </a:p>
        </p:txBody>
      </p:sp>
      <p:sp>
        <p:nvSpPr>
          <p:cNvPr id="94" name="Shape 94"/>
          <p:cNvSpPr>
            <a:spLocks noGrp="1"/>
          </p:cNvSpPr>
          <p:nvPr>
            <p:ph type="body" sz="quarter" idx="14"/>
          </p:nvPr>
        </p:nvSpPr>
        <p:spPr>
          <a:xfrm>
            <a:off x="3581403" y="9083251"/>
            <a:ext cx="29432250" cy="1302601"/>
          </a:xfrm>
          <a:prstGeom prst="rect">
            <a:avLst/>
          </a:prstGeom>
        </p:spPr>
        <p:txBody>
          <a:bodyPr>
            <a:spAutoFit/>
          </a:bodyPr>
          <a:lstStyle>
            <a:lvl1pPr marL="0" indent="0" algn="ctr">
              <a:spcBef>
                <a:spcPts val="0"/>
              </a:spcBef>
              <a:buSzTx/>
              <a:buNone/>
            </a:lvl1pPr>
          </a:lstStyle>
          <a:p>
            <a:r>
              <a:t>“Type a quote here.” </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2"/>
            <a:ext cx="36576000" cy="20574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2533650" y="1428750"/>
            <a:ext cx="31508700" cy="34290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2533650" y="4857753"/>
            <a:ext cx="31508700" cy="1381125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7880931" y="19621502"/>
            <a:ext cx="795089" cy="656590"/>
          </a:xfrm>
          <a:prstGeom prst="rect">
            <a:avLst/>
          </a:prstGeom>
          <a:ln w="12700">
            <a:miter lim="400000"/>
          </a:ln>
        </p:spPr>
        <p:txBody>
          <a:bodyPr wrap="none" lIns="50800" tIns="50800" rIns="50800" bIns="50800">
            <a:spAutoFit/>
          </a:bodyPr>
          <a:lstStyle>
            <a:lvl1pPr>
              <a:defRPr sz="36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9pPr>
    </p:titleStyle>
    <p:bodyStyle>
      <a:lvl1pPr marL="95244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1pPr>
      <a:lvl2pPr marL="190489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2pPr>
      <a:lvl3pPr marL="285734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3pPr>
      <a:lvl4pPr marL="380979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4pPr>
      <a:lvl5pPr marL="4762244"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5pPr>
      <a:lvl6pPr marL="571469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6pPr>
      <a:lvl7pPr marL="666714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7pPr>
      <a:lvl8pPr marL="761959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8pPr>
      <a:lvl9pPr marL="857204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6" name="Shape 126"/>
          <p:cNvSpPr/>
          <p:nvPr/>
        </p:nvSpPr>
        <p:spPr>
          <a:xfrm>
            <a:off x="952498" y="459786"/>
            <a:ext cx="34204877"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Configuring IntelliJ IDEA - WINDOWS, MAC and LINUX</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277273"/>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300" dirty="0">
                <a:latin typeface="Open Sans" panose="020B0606030504020204" pitchFamily="34" charset="0"/>
                <a:ea typeface="Open Sans" panose="020B0606030504020204" pitchFamily="34" charset="0"/>
                <a:cs typeface="Open Sans" panose="020B0606030504020204" pitchFamily="34" charset="0"/>
              </a:rPr>
              <a:t>Configuring IntelliJ IDEA - WINDOWS, MAC and LINUX</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we want to configure IntelliJ Idea, so that we can actually start some java coding. This video is applicable whether you're running on Windows, Mac, or Linux.</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firstly, we need to link the JDK we installed, Oracle's JDK 17, with IntelliJ IDEA so that they work together. Basically, that means telling IntelliJ, where the JDK is installed, on the computer.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a:t>
            </a:r>
            <a:r>
              <a:rPr lang="en-US" sz="6400" b="1" dirty="0">
                <a:latin typeface="Open Sans" panose="020B0606030504020204" pitchFamily="34" charset="0"/>
                <a:ea typeface="Open Sans" panose="020B0606030504020204" pitchFamily="34" charset="0"/>
                <a:cs typeface="Open Sans" panose="020B0606030504020204" pitchFamily="34" charset="0"/>
              </a:rPr>
              <a:t>JDK</a:t>
            </a:r>
            <a:r>
              <a:rPr lang="en-US" sz="6400" dirty="0">
                <a:latin typeface="Open Sans" panose="020B0606030504020204" pitchFamily="34" charset="0"/>
                <a:ea typeface="Open Sans" panose="020B0606030504020204" pitchFamily="34" charset="0"/>
                <a:cs typeface="Open Sans" panose="020B0606030504020204" pitchFamily="34" charset="0"/>
              </a:rPr>
              <a:t> is effectively a </a:t>
            </a:r>
            <a:r>
              <a:rPr lang="en-US" sz="6400" b="1" dirty="0">
                <a:latin typeface="Open Sans" panose="020B0606030504020204" pitchFamily="34" charset="0"/>
                <a:ea typeface="Open Sans" panose="020B0606030504020204" pitchFamily="34" charset="0"/>
                <a:cs typeface="Open Sans" panose="020B0606030504020204" pitchFamily="34" charset="0"/>
              </a:rPr>
              <a:t>Software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Open Sans" panose="020B0606030504020204" pitchFamily="34" charset="0"/>
                <a:ea typeface="Open Sans" panose="020B0606030504020204" pitchFamily="34" charset="0"/>
                <a:cs typeface="Open Sans" panose="020B0606030504020204" pitchFamily="34" charset="0"/>
              </a:rPr>
              <a:t>SDK</a:t>
            </a:r>
            <a:r>
              <a:rPr lang="en-US" sz="6400" dirty="0">
                <a:latin typeface="Open Sans" panose="020B0606030504020204" pitchFamily="34" charset="0"/>
                <a:ea typeface="Open Sans" panose="020B0606030504020204" pitchFamily="34" charset="0"/>
                <a:cs typeface="Open Sans" panose="020B0606030504020204" pitchFamily="34" charset="0"/>
              </a:rPr>
              <a:t>. Whatever you call it, it contains the tools you need, to write programs. The </a:t>
            </a:r>
            <a:r>
              <a:rPr lang="en-US" sz="6400" b="1" dirty="0">
                <a:latin typeface="Open Sans" panose="020B0606030504020204" pitchFamily="34" charset="0"/>
                <a:ea typeface="Open Sans" panose="020B0606030504020204" pitchFamily="34" charset="0"/>
                <a:cs typeface="Open Sans" panose="020B0606030504020204" pitchFamily="34" charset="0"/>
              </a:rPr>
              <a:t>Java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,includes the tools that enables the computer to understand your java code, and to execute it. It also has a debugger, and we'll be seeing what that is and how to use it, when we've written a program to debug.</a:t>
            </a:r>
          </a:p>
        </p:txBody>
      </p:sp>
    </p:spTree>
    <p:extLst>
      <p:ext uri="{BB962C8B-B14F-4D97-AF65-F5344CB8AC3E}">
        <p14:creationId xmlns:p14="http://schemas.microsoft.com/office/powerpoint/2010/main" val="256803748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0625839"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Configuring IntelliJ IDEA for Mac</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dirty="0"/>
          </a:p>
        </p:txBody>
      </p:sp>
      <p:sp>
        <p:nvSpPr>
          <p:cNvPr id="10" name="Shape 131"/>
          <p:cNvSpPr/>
          <p:nvPr/>
        </p:nvSpPr>
        <p:spPr>
          <a:xfrm>
            <a:off x="952500" y="18489726"/>
            <a:ext cx="16008688" cy="1277273"/>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300" dirty="0">
                <a:latin typeface="Open Sans" panose="020B0606030504020204" pitchFamily="34" charset="0"/>
                <a:ea typeface="Open Sans" panose="020B0606030504020204" pitchFamily="34" charset="0"/>
                <a:cs typeface="Open Sans" panose="020B0606030504020204" pitchFamily="34" charset="0"/>
              </a:rPr>
              <a:t>Configuring IntelliJ IDEA for Mac</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we want to configure IntelliJ IDEA, so that we can use it for some Java coding.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I'll talk more about this in a moment, but first we have to set IntelliJ up so that it understands Java code. We need to link the JDK we installed, Oracle's JDK 25, with IntelliJ IDEA, so that they work together.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Basically, that means telling IntelliJ, where the JDK is installed, on the computer.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a:t>
            </a:r>
            <a:r>
              <a:rPr lang="en-US" sz="6400" b="1" dirty="0">
                <a:latin typeface="Open Sans" panose="020B0606030504020204" pitchFamily="34" charset="0"/>
                <a:ea typeface="Open Sans" panose="020B0606030504020204" pitchFamily="34" charset="0"/>
                <a:cs typeface="Open Sans" panose="020B0606030504020204" pitchFamily="34" charset="0"/>
              </a:rPr>
              <a:t>JDK</a:t>
            </a:r>
            <a:r>
              <a:rPr lang="en-US" sz="6400" dirty="0">
                <a:latin typeface="Open Sans" panose="020B0606030504020204" pitchFamily="34" charset="0"/>
                <a:ea typeface="Open Sans" panose="020B0606030504020204" pitchFamily="34" charset="0"/>
                <a:cs typeface="Open Sans" panose="020B0606030504020204" pitchFamily="34" charset="0"/>
              </a:rPr>
              <a:t> is a </a:t>
            </a:r>
            <a:r>
              <a:rPr lang="en-US" sz="6400" b="1" dirty="0">
                <a:latin typeface="Open Sans" panose="020B0606030504020204" pitchFamily="34" charset="0"/>
                <a:ea typeface="Open Sans" panose="020B0606030504020204" pitchFamily="34" charset="0"/>
                <a:cs typeface="Open Sans" panose="020B0606030504020204" pitchFamily="34" charset="0"/>
              </a:rPr>
              <a:t>Software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Open Sans" panose="020B0606030504020204" pitchFamily="34" charset="0"/>
                <a:ea typeface="Open Sans" panose="020B0606030504020204" pitchFamily="34" charset="0"/>
                <a:cs typeface="Open Sans" panose="020B0606030504020204" pitchFamily="34" charset="0"/>
              </a:rPr>
              <a:t>SDK</a:t>
            </a:r>
            <a:r>
              <a:rPr lang="en-US" sz="6400" dirty="0">
                <a:latin typeface="Open Sans" panose="020B0606030504020204" pitchFamily="34" charset="0"/>
                <a:ea typeface="Open Sans" panose="020B0606030504020204" pitchFamily="34" charset="0"/>
                <a:cs typeface="Open Sans" panose="020B0606030504020204" pitchFamily="34" charset="0"/>
              </a:rPr>
              <a:t>. Whatever you call it, it contains the tools you need, to compile and run programs. The </a:t>
            </a:r>
            <a:r>
              <a:rPr lang="en-US" sz="6400" b="1" dirty="0">
                <a:latin typeface="Open Sans" panose="020B0606030504020204" pitchFamily="34" charset="0"/>
                <a:ea typeface="Open Sans" panose="020B0606030504020204" pitchFamily="34" charset="0"/>
                <a:cs typeface="Open Sans" panose="020B0606030504020204" pitchFamily="34" charset="0"/>
              </a:rPr>
              <a:t>Java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includes the tools that enables the computer to understand your Java code, and to execute it. It also has a debugger, and we'll be seeing what that is and how to use it, when we've written a program to debug.</a:t>
            </a:r>
          </a:p>
        </p:txBody>
      </p:sp>
    </p:spTree>
    <p:extLst>
      <p:ext uri="{BB962C8B-B14F-4D97-AF65-F5344CB8AC3E}">
        <p14:creationId xmlns:p14="http://schemas.microsoft.com/office/powerpoint/2010/main" val="115805491"/>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613</TotalTime>
  <Words>352</Words>
  <Application>Microsoft Office PowerPoint</Application>
  <PresentationFormat>Custom</PresentationFormat>
  <Paragraphs>13</Paragraphs>
  <Slides>2</Slides>
  <Notes>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Helvetica</vt:lpstr>
      <vt:lpstr>Helvetica Light</vt:lpstr>
      <vt:lpstr>Helvetica Neue</vt:lpstr>
      <vt:lpstr>Open Sans</vt:lpstr>
      <vt:lpstr>White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Gigabyte</dc:creator>
  <cp:lastModifiedBy>Keane Hubert Ang</cp:lastModifiedBy>
  <cp:revision>167</cp:revision>
  <dcterms:modified xsi:type="dcterms:W3CDTF">2025-12-18T03:35:51Z</dcterms:modified>
</cp:coreProperties>
</file>